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72" r:id="rId1"/>
  </p:sldMasterIdLst>
  <p:notesMasterIdLst>
    <p:notesMasterId r:id="rId11"/>
  </p:notesMasterIdLst>
  <p:sldIdLst>
    <p:sldId id="317" r:id="rId2"/>
    <p:sldId id="258" r:id="rId3"/>
    <p:sldId id="269" r:id="rId4"/>
    <p:sldId id="271" r:id="rId5"/>
    <p:sldId id="288" r:id="rId6"/>
    <p:sldId id="289" r:id="rId7"/>
    <p:sldId id="343" r:id="rId8"/>
    <p:sldId id="346" r:id="rId9"/>
    <p:sldId id="306" r:id="rId10"/>
  </p:sldIdLst>
  <p:sldSz cx="14630400" cy="8229600"/>
  <p:notesSz cx="8229600" cy="14630400"/>
  <p:embeddedFontLst>
    <p:embeddedFont>
      <p:font typeface="Bitter Medium" panose="020B0604020202020204" charset="0"/>
      <p:regular r:id="rId12"/>
    </p:embeddedFont>
    <p:embeddedFont>
      <p:font typeface="Open Sans" panose="020B0606030504020204"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92" autoAdjust="0"/>
    <p:restoredTop sz="94610"/>
  </p:normalViewPr>
  <p:slideViewPr>
    <p:cSldViewPr snapToGrid="0" snapToObjects="1">
      <p:cViewPr varScale="1">
        <p:scale>
          <a:sx n="68" d="100"/>
          <a:sy n="68" d="100"/>
        </p:scale>
        <p:origin x="127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8316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25DAF-016E-381A-120C-EFC614F5A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C82A8-CD59-2227-68D8-C6D5B6413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6C02B-4D02-0C12-3E29-863107090E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143A11-6F48-7870-F873-552A81B196AD}"/>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124311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14902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C745B-F760-53E3-E251-BEEC6E016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A53DF-FB7F-9FA2-F458-E0F427443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DFD2F-2462-D513-F88B-6780272349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4B48A-8E2E-2754-7F83-D685B0879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62337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DB808-B923-0F9E-09E5-93CD8A03D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FB969-53A8-CAE3-1CD2-0300C1217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39178-E9B9-F524-BC7E-FD8CE3A5D4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ED01D-0F2C-8930-53EA-3CBB309AAF8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65944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6814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39803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523267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980513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1099774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517443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95989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4514435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3708737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601743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239230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7611715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733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950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8831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3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926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2922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4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6674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4318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smtClean="0"/>
              <a:t>12/1/2025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00382119"/>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6" r:id="rId12"/>
    <p:sldLayoutId id="2147483794" r:id="rId13"/>
    <p:sldLayoutId id="2147483806" r:id="rId14"/>
    <p:sldLayoutId id="2147483807" r:id="rId15"/>
    <p:sldLayoutId id="2147483809" r:id="rId16"/>
    <p:sldLayoutId id="2147483815" r:id="rId17"/>
    <p:sldLayoutId id="2147483828"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hyperlink" Target="https://data-portal.rice-business.or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45E0-0DFE-1C9D-32BB-0D00934E9163}"/>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67FA6013-DCBB-ECFD-0EBE-FAA05AFB8EF6}"/>
              </a:ext>
            </a:extLst>
          </p:cNvPr>
          <p:cNvSpPr/>
          <p:nvPr/>
        </p:nvSpPr>
        <p:spPr>
          <a:xfrm>
            <a:off x="6510370" y="1023345"/>
            <a:ext cx="5444073" cy="297716"/>
          </a:xfrm>
          <a:prstGeom prst="rect">
            <a:avLst/>
          </a:prstGeom>
          <a:noFill/>
          <a:ln/>
        </p:spPr>
        <p:txBody>
          <a:bodyPr wrap="none" lIns="0" tIns="0" rIns="0" bIns="0" rtlCol="0" anchor="t"/>
          <a:lstStyle/>
          <a:p>
            <a:pPr>
              <a:lnSpc>
                <a:spcPts val="2600"/>
              </a:lnSpc>
            </a:pPr>
            <a:r>
              <a:rPr lang="en-US" sz="2400" b="1" dirty="0">
                <a:solidFill>
                  <a:srgbClr val="2B2E3C"/>
                </a:solidFill>
                <a:latin typeface="Open Sans" pitchFamily="34" charset="0"/>
                <a:ea typeface="Open Sans" pitchFamily="34" charset="-122"/>
                <a:cs typeface="Open Sans" pitchFamily="34" charset="-120"/>
              </a:rPr>
              <a:t>Brookings Institute, 2025:</a:t>
            </a:r>
            <a:endParaRPr lang="en-US" sz="2400" dirty="0"/>
          </a:p>
        </p:txBody>
      </p:sp>
      <p:sp>
        <p:nvSpPr>
          <p:cNvPr id="5" name="Text 2">
            <a:extLst>
              <a:ext uri="{FF2B5EF4-FFF2-40B4-BE49-F238E27FC236}">
                <a16:creationId xmlns:a16="http://schemas.microsoft.com/office/drawing/2014/main" id="{2A567975-AB62-130E-E5E9-5EC9D99D4C31}"/>
              </a:ext>
            </a:extLst>
          </p:cNvPr>
          <p:cNvSpPr/>
          <p:nvPr/>
        </p:nvSpPr>
        <p:spPr>
          <a:xfrm>
            <a:off x="6510370" y="2018783"/>
            <a:ext cx="7484741" cy="893147"/>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As AI models begin to handle underwriting, compliance, and asset allocation, the traditional architecture of financial work is undergoing a fundamental shift.</a:t>
            </a:r>
            <a:endParaRPr lang="en-US" sz="2400" dirty="0"/>
          </a:p>
        </p:txBody>
      </p:sp>
      <p:sp>
        <p:nvSpPr>
          <p:cNvPr id="6" name="Text 3">
            <a:extLst>
              <a:ext uri="{FF2B5EF4-FFF2-40B4-BE49-F238E27FC236}">
                <a16:creationId xmlns:a16="http://schemas.microsoft.com/office/drawing/2014/main" id="{D43CFB95-42BC-122C-A250-85E30152B4AE}"/>
              </a:ext>
            </a:extLst>
          </p:cNvPr>
          <p:cNvSpPr/>
          <p:nvPr/>
        </p:nvSpPr>
        <p:spPr>
          <a:xfrm>
            <a:off x="6510370" y="4006419"/>
            <a:ext cx="7290777" cy="893147"/>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As job descriptions evolve, so does the definition of financial talent. </a:t>
            </a:r>
            <a:r>
              <a:rPr lang="en-US" sz="2400" dirty="0">
                <a:latin typeface="Open Sans" pitchFamily="34" charset="0"/>
                <a:ea typeface="Open Sans" pitchFamily="34" charset="-122"/>
                <a:cs typeface="Open Sans" pitchFamily="34" charset="-120"/>
              </a:rPr>
              <a:t>Excel is no longer a differentiator. Python is fast becoming the new Excel.</a:t>
            </a:r>
            <a:endParaRPr lang="en-US" sz="2400" dirty="0"/>
          </a:p>
        </p:txBody>
      </p:sp>
      <p:sp>
        <p:nvSpPr>
          <p:cNvPr id="7" name="Text 4">
            <a:extLst>
              <a:ext uri="{FF2B5EF4-FFF2-40B4-BE49-F238E27FC236}">
                <a16:creationId xmlns:a16="http://schemas.microsoft.com/office/drawing/2014/main" id="{827D6CF9-8629-67C2-B4B2-52EE70D9165E}"/>
              </a:ext>
            </a:extLst>
          </p:cNvPr>
          <p:cNvSpPr/>
          <p:nvPr/>
        </p:nvSpPr>
        <p:spPr>
          <a:xfrm>
            <a:off x="6525643" y="5752059"/>
            <a:ext cx="7484741" cy="595432"/>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But technical skills alone will not cut it. The </a:t>
            </a:r>
            <a:r>
              <a:rPr lang="en-US" sz="2400" dirty="0">
                <a:latin typeface="Open Sans" pitchFamily="34" charset="0"/>
                <a:ea typeface="Open Sans" pitchFamily="34" charset="-122"/>
                <a:cs typeface="Open Sans" pitchFamily="34" charset="-120"/>
              </a:rPr>
              <a:t>most in demand profiles today are those that speak both AI and finance.</a:t>
            </a:r>
            <a:endParaRPr lang="en-US" sz="2400" dirty="0"/>
          </a:p>
        </p:txBody>
      </p:sp>
      <p:sp>
        <p:nvSpPr>
          <p:cNvPr id="8" name="Shape 5">
            <a:extLst>
              <a:ext uri="{FF2B5EF4-FFF2-40B4-BE49-F238E27FC236}">
                <a16:creationId xmlns:a16="http://schemas.microsoft.com/office/drawing/2014/main" id="{41921775-55A4-A319-7071-5C37CE2FAEC2}"/>
              </a:ext>
            </a:extLst>
          </p:cNvPr>
          <p:cNvSpPr/>
          <p:nvPr/>
        </p:nvSpPr>
        <p:spPr>
          <a:xfrm>
            <a:off x="6135920" y="2018783"/>
            <a:ext cx="45719" cy="4655394"/>
          </a:xfrm>
          <a:prstGeom prst="rect">
            <a:avLst/>
          </a:prstGeom>
          <a:solidFill>
            <a:srgbClr val="D2600F"/>
          </a:solidFill>
          <a:ln/>
        </p:spPr>
        <p:txBody>
          <a:bodyPr/>
          <a:lstStyle/>
          <a:p>
            <a:pPr>
              <a:lnSpc>
                <a:spcPts val="2600"/>
              </a:lnSpc>
            </a:pPr>
            <a:endParaRPr lang="en-US" sz="1350"/>
          </a:p>
        </p:txBody>
      </p:sp>
      <p:pic>
        <p:nvPicPr>
          <p:cNvPr id="9" name="Image 0" descr="preencoded.png">
            <a:extLst>
              <a:ext uri="{FF2B5EF4-FFF2-40B4-BE49-F238E27FC236}">
                <a16:creationId xmlns:a16="http://schemas.microsoft.com/office/drawing/2014/main" id="{16AE3CDA-BE0F-888B-6DEB-88DF74516347}"/>
              </a:ext>
            </a:extLst>
          </p:cNvPr>
          <p:cNvPicPr>
            <a:picLocks noChangeAspect="1"/>
          </p:cNvPicPr>
          <p:nvPr/>
        </p:nvPicPr>
        <p:blipFill>
          <a:blip r:embed="rId3"/>
          <a:stretch>
            <a:fillRect/>
          </a:stretch>
        </p:blipFill>
        <p:spPr>
          <a:xfrm>
            <a:off x="0" y="0"/>
            <a:ext cx="5527964" cy="8291946"/>
          </a:xfrm>
          <a:prstGeom prst="rect">
            <a:avLst/>
          </a:prstGeom>
        </p:spPr>
      </p:pic>
    </p:spTree>
    <p:extLst>
      <p:ext uri="{BB962C8B-B14F-4D97-AF65-F5344CB8AC3E}">
        <p14:creationId xmlns:p14="http://schemas.microsoft.com/office/powerpoint/2010/main" val="1771109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820307" y="1210353"/>
            <a:ext cx="9558873" cy="297716"/>
          </a:xfrm>
          <a:prstGeom prst="rect">
            <a:avLst/>
          </a:prstGeom>
          <a:noFill/>
          <a:ln/>
        </p:spPr>
        <p:txBody>
          <a:bodyPr wrap="none" lIns="0" tIns="0" rIns="0" bIns="0" rtlCol="0" anchor="t"/>
          <a:lstStyle/>
          <a:p>
            <a:pPr>
              <a:lnSpc>
                <a:spcPts val="2600"/>
              </a:lnSpc>
            </a:pPr>
            <a:r>
              <a:rPr lang="en-US" sz="2400" b="1" dirty="0">
                <a:solidFill>
                  <a:srgbClr val="2B2E3C"/>
                </a:solidFill>
                <a:latin typeface="Open Sans" pitchFamily="34" charset="0"/>
                <a:ea typeface="Open Sans" pitchFamily="34" charset="-122"/>
                <a:cs typeface="Open Sans" pitchFamily="34" charset="-120"/>
              </a:rPr>
              <a:t>Derek Waldron, JP Morgan Chief Analytics Officer, </a:t>
            </a:r>
            <a:r>
              <a:rPr lang="en-US" sz="2400" b="1" dirty="0">
                <a:solidFill>
                  <a:srgbClr val="2B2E3C"/>
                </a:solidFill>
                <a:latin typeface="Open Sans" panose="020B0606030504020204" pitchFamily="34" charset="0"/>
                <a:ea typeface="Open Sans" panose="020B0606030504020204" pitchFamily="34" charset="0"/>
                <a:cs typeface="Open Sans" panose="020B0606030504020204" pitchFamily="34" charset="0"/>
              </a:rPr>
              <a:t>CNBC, September 30, 2025 </a:t>
            </a:r>
            <a:r>
              <a:rPr lang="en-US" sz="2400" b="1" dirty="0">
                <a:solidFill>
                  <a:srgbClr val="2B2E3C"/>
                </a:solidFill>
                <a:latin typeface="Open Sans" pitchFamily="34" charset="0"/>
                <a:ea typeface="Open Sans" pitchFamily="34" charset="-122"/>
                <a:cs typeface="Open Sans" pitchFamily="34" charset="-120"/>
              </a:rPr>
              <a:t>:</a:t>
            </a:r>
            <a:endParaRPr lang="en-US" sz="2400" dirty="0"/>
          </a:p>
        </p:txBody>
      </p:sp>
      <p:sp>
        <p:nvSpPr>
          <p:cNvPr id="4" name="Text 2"/>
          <p:cNvSpPr/>
          <p:nvPr/>
        </p:nvSpPr>
        <p:spPr>
          <a:xfrm>
            <a:off x="820307" y="2390991"/>
            <a:ext cx="12253964" cy="595432"/>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What we're working towards is that every employee will have their own personalized AI assistant; every process is powered by AI agents, and every client experience has an AI concierge.</a:t>
            </a:r>
            <a:endParaRPr lang="en-US" sz="2400" dirty="0"/>
          </a:p>
        </p:txBody>
      </p:sp>
      <p:sp>
        <p:nvSpPr>
          <p:cNvPr id="5" name="Text 3"/>
          <p:cNvSpPr/>
          <p:nvPr/>
        </p:nvSpPr>
        <p:spPr>
          <a:xfrm>
            <a:off x="820307" y="3853909"/>
            <a:ext cx="12185384" cy="595432"/>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You'll still have people at the top who are managing and have relationships with clients, but many, many of the processes underneath are now being done by AI systems.</a:t>
            </a:r>
            <a:endParaRPr lang="en-US" sz="2400" dirty="0"/>
          </a:p>
        </p:txBody>
      </p:sp>
      <p:sp>
        <p:nvSpPr>
          <p:cNvPr id="6" name="Text 4"/>
          <p:cNvSpPr/>
          <p:nvPr/>
        </p:nvSpPr>
        <p:spPr>
          <a:xfrm>
            <a:off x="820307" y="5322639"/>
            <a:ext cx="12406364" cy="595432"/>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Workers would shift from being creators of reports or software updates, or 'makers' ... to 'checkers' or managers of AI agents doing that work.</a:t>
            </a:r>
            <a:endParaRPr lang="en-US" sz="2400" dirty="0"/>
          </a:p>
        </p:txBody>
      </p:sp>
      <p:sp>
        <p:nvSpPr>
          <p:cNvPr id="7" name="Shape 5"/>
          <p:cNvSpPr/>
          <p:nvPr/>
        </p:nvSpPr>
        <p:spPr>
          <a:xfrm>
            <a:off x="441820" y="2460232"/>
            <a:ext cx="45719" cy="3457840"/>
          </a:xfrm>
          <a:prstGeom prst="rect">
            <a:avLst/>
          </a:prstGeom>
          <a:solidFill>
            <a:srgbClr val="D2600F"/>
          </a:solidFill>
          <a:ln/>
        </p:spPr>
        <p:txBody>
          <a:bodyPr/>
          <a:lstStyle/>
          <a:p>
            <a:pPr>
              <a:lnSpc>
                <a:spcPts val="2600"/>
              </a:lnSpc>
            </a:pPr>
            <a:endParaRPr lang="en-US" sz="13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6577811" y="885439"/>
            <a:ext cx="3742611" cy="1958638"/>
          </a:xfrm>
          <a:prstGeom prst="rect">
            <a:avLst/>
          </a:prstGeom>
        </p:spPr>
      </p:pic>
      <p:sp>
        <p:nvSpPr>
          <p:cNvPr id="5" name="Text 1"/>
          <p:cNvSpPr/>
          <p:nvPr/>
        </p:nvSpPr>
        <p:spPr>
          <a:xfrm>
            <a:off x="2447690" y="2156286"/>
            <a:ext cx="8444342" cy="297716"/>
          </a:xfrm>
          <a:prstGeom prst="rect">
            <a:avLst/>
          </a:prstGeom>
          <a:noFill/>
          <a:ln/>
        </p:spPr>
        <p:txBody>
          <a:bodyPr wrap="none" lIns="0" tIns="0" rIns="0" bIns="0" rtlCol="0" anchor="t"/>
          <a:lstStyle/>
          <a:p>
            <a:pPr>
              <a:lnSpc>
                <a:spcPts val="2600"/>
              </a:lnSpc>
            </a:pPr>
            <a:r>
              <a:rPr lang="en-US" sz="2400" b="1" dirty="0">
                <a:solidFill>
                  <a:srgbClr val="2B2E3C"/>
                </a:solidFill>
                <a:latin typeface="Open Sans" pitchFamily="34" charset="0"/>
                <a:ea typeface="Open Sans" pitchFamily="34" charset="-122"/>
                <a:cs typeface="Open Sans" pitchFamily="34" charset="-120"/>
              </a:rPr>
              <a:t>Aaron Linsky, CTO, AIA Labs at</a:t>
            </a:r>
            <a:endParaRPr lang="en-US" sz="2400" dirty="0"/>
          </a:p>
        </p:txBody>
      </p:sp>
      <p:sp>
        <p:nvSpPr>
          <p:cNvPr id="6" name="Text 2"/>
          <p:cNvSpPr/>
          <p:nvPr/>
        </p:nvSpPr>
        <p:spPr>
          <a:xfrm>
            <a:off x="2381702" y="3341703"/>
            <a:ext cx="10985006" cy="595432"/>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We've been developing capabilities powered by Claude since 2023 within AIA Labs.</a:t>
            </a:r>
            <a:endParaRPr lang="en-US" sz="2400" dirty="0"/>
          </a:p>
        </p:txBody>
      </p:sp>
      <p:sp>
        <p:nvSpPr>
          <p:cNvPr id="7" name="Text 3"/>
          <p:cNvSpPr/>
          <p:nvPr/>
        </p:nvSpPr>
        <p:spPr>
          <a:xfrm>
            <a:off x="2381702" y="4429262"/>
            <a:ext cx="11061206" cy="1488579"/>
          </a:xfrm>
          <a:prstGeom prst="rect">
            <a:avLst/>
          </a:prstGeom>
          <a:noFill/>
          <a:ln/>
        </p:spPr>
        <p:txBody>
          <a:bodyPr wrap="square" lIns="0" tIns="0" rIns="0" bIns="0" rtlCol="0" anchor="t"/>
          <a:lstStyle/>
          <a:p>
            <a:pPr>
              <a:lnSpc>
                <a:spcPts val="2600"/>
              </a:lnSpc>
            </a:pPr>
            <a:r>
              <a:rPr lang="en-US" sz="2400" dirty="0">
                <a:latin typeface="Open Sans" pitchFamily="34" charset="0"/>
                <a:ea typeface="Open Sans" pitchFamily="34" charset="-122"/>
                <a:cs typeface="Open Sans" pitchFamily="34" charset="-120"/>
              </a:rPr>
              <a:t>Claude powered the first versions of our Investment Analyst Assistant, which streamlined our analysts' workflow by generating Python code, creating data visualizations, and iterating through complex financial analysis tasks with the precision of a junior analyst.</a:t>
            </a:r>
            <a:endParaRPr lang="en-US" sz="2400" dirty="0"/>
          </a:p>
        </p:txBody>
      </p:sp>
      <p:sp>
        <p:nvSpPr>
          <p:cNvPr id="8" name="Shape 4"/>
          <p:cNvSpPr/>
          <p:nvPr/>
        </p:nvSpPr>
        <p:spPr>
          <a:xfrm>
            <a:off x="2181569" y="3341703"/>
            <a:ext cx="45719" cy="2380367"/>
          </a:xfrm>
          <a:prstGeom prst="rect">
            <a:avLst/>
          </a:prstGeom>
          <a:solidFill>
            <a:srgbClr val="D2600F"/>
          </a:solidFill>
          <a:ln/>
        </p:spPr>
        <p:txBody>
          <a:bodyPr/>
          <a:lstStyle/>
          <a:p>
            <a:pPr>
              <a:lnSpc>
                <a:spcPts val="2600"/>
              </a:lnSpc>
            </a:pPr>
            <a:endParaRPr lang="en-US" sz="13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99418" y="0"/>
            <a:ext cx="5430982" cy="8146473"/>
          </a:xfrm>
          <a:prstGeom prst="rect">
            <a:avLst/>
          </a:prstGeom>
        </p:spPr>
      </p:pic>
      <p:sp>
        <p:nvSpPr>
          <p:cNvPr id="4" name="Text 1"/>
          <p:cNvSpPr/>
          <p:nvPr/>
        </p:nvSpPr>
        <p:spPr>
          <a:xfrm>
            <a:off x="2346491" y="5177807"/>
            <a:ext cx="5667316" cy="595432"/>
          </a:xfrm>
          <a:prstGeom prst="rect">
            <a:avLst/>
          </a:prstGeom>
          <a:noFill/>
          <a:ln/>
        </p:spPr>
        <p:txBody>
          <a:bodyPr wrap="square" lIns="0" tIns="0" rIns="0" bIns="0" rtlCol="0" anchor="t"/>
          <a:lstStyle/>
          <a:p>
            <a:pPr>
              <a:lnSpc>
                <a:spcPts val="2600"/>
              </a:lnSpc>
            </a:pPr>
            <a:endParaRPr lang="en-US" sz="2000" dirty="0"/>
          </a:p>
        </p:txBody>
      </p:sp>
      <p:sp>
        <p:nvSpPr>
          <p:cNvPr id="5" name="Text 2"/>
          <p:cNvSpPr/>
          <p:nvPr/>
        </p:nvSpPr>
        <p:spPr>
          <a:xfrm>
            <a:off x="841461" y="1490071"/>
            <a:ext cx="7405657" cy="893147"/>
          </a:xfrm>
          <a:prstGeom prst="rect">
            <a:avLst/>
          </a:prstGeom>
          <a:noFill/>
          <a:ln/>
        </p:spPr>
        <p:txBody>
          <a:bodyPr wrap="square" lIns="0" tIns="0" rIns="0" bIns="0" rtlCol="0" anchor="t"/>
          <a:lstStyle/>
          <a:p>
            <a:pPr>
              <a:lnSpc>
                <a:spcPts val="2600"/>
              </a:lnSpc>
            </a:pPr>
            <a:r>
              <a:rPr lang="en-US" sz="2400" dirty="0">
                <a:latin typeface="Open Sans" pitchFamily="34" charset="0"/>
                <a:ea typeface="Open Sans" pitchFamily="34" charset="-122"/>
                <a:cs typeface="Open Sans" pitchFamily="34" charset="-120"/>
              </a:rPr>
              <a:t>Claude became able to generate fully functioning, nicely formatted Excel workbooks in September 2025.  </a:t>
            </a:r>
          </a:p>
          <a:p>
            <a:pPr>
              <a:lnSpc>
                <a:spcPts val="2600"/>
              </a:lnSpc>
            </a:pPr>
            <a:endParaRPr lang="en-US" sz="2000" dirty="0">
              <a:solidFill>
                <a:srgbClr val="2B2E3C"/>
              </a:solidFill>
              <a:latin typeface="Open Sans" pitchFamily="34" charset="0"/>
              <a:ea typeface="Open Sans" pitchFamily="34" charset="-122"/>
              <a:cs typeface="Open Sans" pitchFamily="34" charset="-120"/>
            </a:endParaRPr>
          </a:p>
          <a:p>
            <a:pPr>
              <a:lnSpc>
                <a:spcPts val="2600"/>
              </a:lnSpc>
            </a:pPr>
            <a:endParaRPr lang="en-US" sz="2000" dirty="0">
              <a:solidFill>
                <a:srgbClr val="2B2E3C"/>
              </a:solidFill>
              <a:latin typeface="Open Sans" pitchFamily="34" charset="0"/>
              <a:ea typeface="Open Sans" pitchFamily="34" charset="-122"/>
              <a:cs typeface="Open Sans" pitchFamily="34" charset="-120"/>
            </a:endParaRPr>
          </a:p>
          <a:p>
            <a:pPr>
              <a:lnSpc>
                <a:spcPts val="2600"/>
              </a:lnSpc>
            </a:pPr>
            <a:endParaRPr lang="en-US" sz="2000" dirty="0">
              <a:solidFill>
                <a:srgbClr val="2B2E3C"/>
              </a:solidFill>
              <a:latin typeface="Open Sans" pitchFamily="34" charset="0"/>
              <a:ea typeface="Open Sans" pitchFamily="34" charset="-122"/>
              <a:cs typeface="Open Sans" pitchFamily="34" charset="-120"/>
            </a:endParaRPr>
          </a:p>
          <a:p>
            <a:pPr>
              <a:lnSpc>
                <a:spcPts val="2600"/>
              </a:lnSpc>
            </a:pPr>
            <a:endParaRPr lang="en-US" sz="2000" dirty="0">
              <a:solidFill>
                <a:srgbClr val="2B2E3C"/>
              </a:solidFill>
              <a:latin typeface="Open Sans" pitchFamily="34" charset="0"/>
              <a:ea typeface="Open Sans" pitchFamily="34" charset="-122"/>
              <a:cs typeface="Open Sans" pitchFamily="34" charset="-120"/>
            </a:endParaRPr>
          </a:p>
        </p:txBody>
      </p:sp>
      <p:sp>
        <p:nvSpPr>
          <p:cNvPr id="7" name="TextBox 6">
            <a:extLst>
              <a:ext uri="{FF2B5EF4-FFF2-40B4-BE49-F238E27FC236}">
                <a16:creationId xmlns:a16="http://schemas.microsoft.com/office/drawing/2014/main" id="{C80EAB6C-41C2-6743-95B4-15DB76597B5A}"/>
              </a:ext>
            </a:extLst>
          </p:cNvPr>
          <p:cNvSpPr txBox="1"/>
          <p:nvPr/>
        </p:nvSpPr>
        <p:spPr>
          <a:xfrm>
            <a:off x="694356" y="3603593"/>
            <a:ext cx="7699865" cy="1574214"/>
          </a:xfrm>
          <a:prstGeom prst="rect">
            <a:avLst/>
          </a:prstGeom>
          <a:noFill/>
        </p:spPr>
        <p:txBody>
          <a:bodyPr wrap="square">
            <a:spAutoFit/>
          </a:bodyPr>
          <a:lstStyle/>
          <a:p>
            <a:pPr>
              <a:lnSpc>
                <a:spcPts val="2600"/>
              </a:lnSpc>
            </a:pPr>
            <a:r>
              <a:rPr lang="en-US" sz="2400" b="1" dirty="0">
                <a:solidFill>
                  <a:schemeClr val="accent2">
                    <a:lumMod val="75000"/>
                  </a:schemeClr>
                </a:solidFill>
                <a:latin typeface="Open Sans" pitchFamily="34" charset="0"/>
                <a:ea typeface="Open Sans" pitchFamily="34" charset="-122"/>
                <a:cs typeface="Open Sans" pitchFamily="34" charset="-120"/>
              </a:rPr>
              <a:t>Prompt:</a:t>
            </a:r>
            <a:r>
              <a:rPr lang="en-US" sz="2400" dirty="0">
                <a:solidFill>
                  <a:srgbClr val="000000"/>
                </a:solidFill>
                <a:latin typeface="Open Sans" pitchFamily="34" charset="0"/>
                <a:ea typeface="Open Sans" pitchFamily="34" charset="-122"/>
                <a:cs typeface="Open Sans" pitchFamily="34" charset="-120"/>
              </a:rPr>
              <a:t> Read the uploaded HBS case (Valuing Wal-Mart 2010). Ignore the valuation method described in the case. Do a two-stage DCF valuation. Document your assumptions and your reasons for them. Create a professionally formatted Excel workbook. </a:t>
            </a:r>
            <a:endParaRPr lang="en-US" sz="2400" dirty="0"/>
          </a:p>
        </p:txBody>
      </p:sp>
    </p:spTree>
    <p:extLst>
      <p:ext uri="{BB962C8B-B14F-4D97-AF65-F5344CB8AC3E}">
        <p14:creationId xmlns:p14="http://schemas.microsoft.com/office/powerpoint/2010/main" val="398715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p:nvPr/>
        </p:nvSpPr>
        <p:spPr>
          <a:xfrm>
            <a:off x="5846618" y="970059"/>
            <a:ext cx="5269235" cy="465059"/>
          </a:xfrm>
          <a:prstGeom prst="rect">
            <a:avLst/>
          </a:prstGeom>
          <a:noFill/>
          <a:ln/>
        </p:spPr>
        <p:txBody>
          <a:bodyPr wrap="none" lIns="0" tIns="0" rIns="0" bIns="0" rtlCol="0" anchor="t"/>
          <a:lstStyle/>
          <a:p>
            <a:pPr>
              <a:lnSpc>
                <a:spcPts val="2600"/>
              </a:lnSpc>
            </a:pPr>
            <a:r>
              <a:rPr lang="en-US" sz="3200" dirty="0">
                <a:solidFill>
                  <a:srgbClr val="2C3F42"/>
                </a:solidFill>
                <a:latin typeface="Bitter Medium" pitchFamily="34" charset="0"/>
                <a:ea typeface="Bitter Medium" pitchFamily="34" charset="-122"/>
                <a:cs typeface="Bitter Medium" pitchFamily="34" charset="-120"/>
              </a:rPr>
              <a:t>Database Agent</a:t>
            </a:r>
            <a:endParaRPr lang="en-US" sz="3200" dirty="0"/>
          </a:p>
        </p:txBody>
      </p:sp>
      <p:sp>
        <p:nvSpPr>
          <p:cNvPr id="5" name="Text 2"/>
          <p:cNvSpPr/>
          <p:nvPr/>
        </p:nvSpPr>
        <p:spPr>
          <a:xfrm>
            <a:off x="949035" y="6742402"/>
            <a:ext cx="12586855" cy="1034280"/>
          </a:xfrm>
          <a:prstGeom prst="rect">
            <a:avLst/>
          </a:prstGeom>
          <a:noFill/>
          <a:ln/>
        </p:spPr>
        <p:txBody>
          <a:bodyPr wrap="square" lIns="0" tIns="0" rIns="0" bIns="0" rtlCol="0" anchor="t"/>
          <a:lstStyle/>
          <a:p>
            <a:pPr lvl="1">
              <a:lnSpc>
                <a:spcPts val="2600"/>
              </a:lnSpc>
            </a:pPr>
            <a:r>
              <a:rPr lang="en-US" sz="2400" dirty="0">
                <a:solidFill>
                  <a:srgbClr val="2B2E3C"/>
                </a:solidFill>
                <a:latin typeface="Open Sans" pitchFamily="34" charset="0"/>
                <a:ea typeface="Open Sans" pitchFamily="34" charset="-122"/>
                <a:cs typeface="Open Sans" pitchFamily="34" charset="-120"/>
              </a:rPr>
              <a:t>Could attach more tools. For example, Python to analyze data.  Then Output → User</a:t>
            </a:r>
            <a:endParaRPr lang="en-US" sz="2400" dirty="0"/>
          </a:p>
        </p:txBody>
      </p:sp>
      <p:pic>
        <p:nvPicPr>
          <p:cNvPr id="7" name="Picture 6" descr="A diagram of a data warehouse&#10;&#10;AI-generated content may be incorrect.">
            <a:extLst>
              <a:ext uri="{FF2B5EF4-FFF2-40B4-BE49-F238E27FC236}">
                <a16:creationId xmlns:a16="http://schemas.microsoft.com/office/drawing/2014/main" id="{15476D5A-A15F-77E3-0B21-F3903423474C}"/>
              </a:ext>
            </a:extLst>
          </p:cNvPr>
          <p:cNvPicPr>
            <a:picLocks noChangeAspect="1"/>
          </p:cNvPicPr>
          <p:nvPr/>
        </p:nvPicPr>
        <p:blipFill>
          <a:blip r:embed="rId3"/>
          <a:stretch>
            <a:fillRect/>
          </a:stretch>
        </p:blipFill>
        <p:spPr>
          <a:xfrm>
            <a:off x="2503641" y="-107984"/>
            <a:ext cx="9258867" cy="6914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4796" y="1"/>
            <a:ext cx="14675195" cy="2639290"/>
          </a:xfrm>
          <a:prstGeom prst="rect">
            <a:avLst/>
          </a:prstGeom>
        </p:spPr>
      </p:pic>
      <p:sp>
        <p:nvSpPr>
          <p:cNvPr id="3" name="Text 0"/>
          <p:cNvSpPr/>
          <p:nvPr/>
        </p:nvSpPr>
        <p:spPr>
          <a:xfrm>
            <a:off x="1211871" y="3603218"/>
            <a:ext cx="6037004" cy="465059"/>
          </a:xfrm>
          <a:prstGeom prst="rect">
            <a:avLst/>
          </a:prstGeom>
          <a:noFill/>
          <a:ln/>
        </p:spPr>
        <p:txBody>
          <a:bodyPr wrap="none" lIns="0" tIns="0" rIns="0" bIns="0" rtlCol="0" anchor="t"/>
          <a:lstStyle/>
          <a:p>
            <a:pPr>
              <a:lnSpc>
                <a:spcPts val="2600"/>
              </a:lnSpc>
            </a:pPr>
            <a:r>
              <a:rPr lang="en-US" sz="3200" dirty="0">
                <a:solidFill>
                  <a:srgbClr val="2C3F42"/>
                </a:solidFill>
                <a:latin typeface="Bitter Medium" pitchFamily="34" charset="0"/>
                <a:ea typeface="Bitter Medium" pitchFamily="34" charset="-122"/>
                <a:cs typeface="Bitter Medium" pitchFamily="34" charset="-120"/>
              </a:rPr>
              <a:t>A Vibe-Coded Database Agent</a:t>
            </a:r>
            <a:endParaRPr lang="en-US" sz="3200" dirty="0"/>
          </a:p>
        </p:txBody>
      </p:sp>
      <p:sp>
        <p:nvSpPr>
          <p:cNvPr id="4" name="Text 1"/>
          <p:cNvSpPr/>
          <p:nvPr/>
        </p:nvSpPr>
        <p:spPr>
          <a:xfrm>
            <a:off x="2424142" y="4626382"/>
            <a:ext cx="9782116" cy="297716"/>
          </a:xfrm>
          <a:prstGeom prst="rect">
            <a:avLst/>
          </a:prstGeom>
          <a:noFill/>
          <a:ln/>
        </p:spPr>
        <p:txBody>
          <a:bodyPr wrap="none" lIns="0" tIns="0" rIns="0" bIns="0" rtlCol="0" anchor="t"/>
          <a:lstStyle/>
          <a:p>
            <a:pPr>
              <a:lnSpc>
                <a:spcPts val="2600"/>
              </a:lnSpc>
            </a:pPr>
            <a:endParaRPr lang="en-US" sz="1463" dirty="0"/>
          </a:p>
        </p:txBody>
      </p:sp>
      <p:sp>
        <p:nvSpPr>
          <p:cNvPr id="5" name="Text 2"/>
          <p:cNvSpPr/>
          <p:nvPr/>
        </p:nvSpPr>
        <p:spPr>
          <a:xfrm>
            <a:off x="1211871" y="4984926"/>
            <a:ext cx="9782116" cy="297716"/>
          </a:xfrm>
          <a:prstGeom prst="rect">
            <a:avLst/>
          </a:prstGeom>
          <a:noFill/>
          <a:ln/>
        </p:spPr>
        <p:txBody>
          <a:bodyPr wrap="none" lIns="0" tIns="0" rIns="0" bIns="0" rtlCol="0" anchor="t"/>
          <a:lstStyle/>
          <a:p>
            <a:pPr>
              <a:lnSpc>
                <a:spcPts val="2600"/>
              </a:lnSpc>
            </a:pPr>
            <a:r>
              <a:rPr lang="en-US" sz="2400" u="sng" dirty="0">
                <a:solidFill>
                  <a:srgbClr val="D2600F"/>
                </a:solidFill>
                <a:latin typeface="Open Sans" pitchFamily="34" charset="0"/>
                <a:ea typeface="Open Sans" pitchFamily="34" charset="-122"/>
                <a:cs typeface="Open Sans" pitchFamily="34" charset="-120"/>
                <a:hlinkClick r:id="rId4">
                  <a:extLst>
                    <a:ext uri="{A12FA001-AC4F-418D-AE19-62706E023703}">
                      <ahyp:hlinkClr xmlns:ahyp="http://schemas.microsoft.com/office/drawing/2018/hyperlinkcolor" val="tx"/>
                    </a:ext>
                  </a:extLst>
                </a:hlinkClick>
              </a:rPr>
              <a:t>Visit data-portal.rice-business.org</a:t>
            </a:r>
            <a:endParaRPr lang="en-US" sz="2400" dirty="0"/>
          </a:p>
        </p:txBody>
      </p:sp>
      <p:sp>
        <p:nvSpPr>
          <p:cNvPr id="6" name="Text 3"/>
          <p:cNvSpPr/>
          <p:nvPr/>
        </p:nvSpPr>
        <p:spPr>
          <a:xfrm>
            <a:off x="1211871" y="5987412"/>
            <a:ext cx="12033074" cy="1376279"/>
          </a:xfrm>
          <a:prstGeom prst="rect">
            <a:avLst/>
          </a:prstGeom>
          <a:solidFill>
            <a:schemeClr val="accent2">
              <a:lumMod val="40000"/>
              <a:lumOff val="60000"/>
            </a:schemeClr>
          </a:solidFill>
          <a:ln/>
        </p:spPr>
        <p:txBody>
          <a:bodyPr wrap="square" lIns="0" tIns="0" rIns="0" bIns="0" rtlCol="0" anchor="t"/>
          <a:lstStyle/>
          <a:p>
            <a:pPr>
              <a:lnSpc>
                <a:spcPts val="2600"/>
              </a:lnSpc>
            </a:pPr>
            <a:r>
              <a:rPr lang="en-US" sz="2000" dirty="0">
                <a:solidFill>
                  <a:srgbClr val="2B2E3C"/>
                </a:solidFill>
                <a:latin typeface="Open Sans" pitchFamily="34" charset="0"/>
                <a:ea typeface="Open Sans" pitchFamily="34" charset="-122"/>
                <a:cs typeface="Open Sans" pitchFamily="34" charset="-120"/>
              </a:rPr>
              <a:t>Example prompt:</a:t>
            </a:r>
          </a:p>
          <a:p>
            <a:pPr>
              <a:lnSpc>
                <a:spcPts val="2600"/>
              </a:lnSpc>
            </a:pPr>
            <a:endParaRPr lang="en-US" sz="2000" dirty="0">
              <a:solidFill>
                <a:srgbClr val="2B2E3C"/>
              </a:solidFill>
              <a:latin typeface="Open Sans" pitchFamily="34" charset="0"/>
              <a:ea typeface="Open Sans" pitchFamily="34" charset="-122"/>
              <a:cs typeface="Open Sans" pitchFamily="34" charset="-120"/>
            </a:endParaRPr>
          </a:p>
          <a:p>
            <a:pPr>
              <a:lnSpc>
                <a:spcPts val="2600"/>
              </a:lnSpc>
            </a:pPr>
            <a:r>
              <a:rPr lang="en-US" sz="2000" dirty="0">
                <a:solidFill>
                  <a:srgbClr val="000000"/>
                </a:solidFill>
                <a:latin typeface="Open Sans" pitchFamily="34" charset="0"/>
                <a:ea typeface="Open Sans" pitchFamily="34" charset="-122"/>
                <a:cs typeface="Open Sans" pitchFamily="34" charset="-120"/>
              </a:rPr>
              <a:t>Get TSLA's ROE by quarter on a trailing 4-quarters basis for Q1 2020 through Q3 2025 </a:t>
            </a:r>
            <a:r>
              <a:rPr lang="en-US" sz="2000" dirty="0">
                <a:latin typeface="Open Sans" pitchFamily="34" charset="0"/>
                <a:ea typeface="Open Sans" pitchFamily="34" charset="-122"/>
                <a:cs typeface="Open Sans" pitchFamily="34" charset="-120"/>
              </a:rPr>
              <a:t>from the Rice stock database</a:t>
            </a:r>
            <a:r>
              <a:rPr lang="en-US" sz="2000" b="1" dirty="0">
                <a:solidFill>
                  <a:srgbClr val="1F7135"/>
                </a:solidFill>
                <a:latin typeface="Open Sans" pitchFamily="34" charset="0"/>
                <a:ea typeface="Open Sans" pitchFamily="34" charset="-122"/>
                <a:cs typeface="Open Sans" pitchFamily="34" charset="-120"/>
              </a:rPr>
              <a:t>.</a:t>
            </a:r>
            <a:endParaRPr lang="en-US" sz="2000" dirty="0">
              <a:solidFill>
                <a:srgbClr val="000000"/>
              </a:solidFill>
              <a:latin typeface="Open Sans" pitchFamily="34" charset="0"/>
              <a:ea typeface="Open Sans" pitchFamily="34" charset="-122"/>
              <a:cs typeface="Open Sans" pitchFamily="34" charset="-120"/>
            </a:endParaRPr>
          </a:p>
          <a:p>
            <a:pPr>
              <a:lnSpc>
                <a:spcPts val="2600"/>
              </a:lnSpc>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B76B-5F3A-2EF4-032D-AA18A956A95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AE8CD1D-B94E-8D85-3470-2642F8A0FDE7}"/>
              </a:ext>
            </a:extLst>
          </p:cNvPr>
          <p:cNvSpPr/>
          <p:nvPr/>
        </p:nvSpPr>
        <p:spPr>
          <a:xfrm>
            <a:off x="3796147" y="792929"/>
            <a:ext cx="5269235" cy="465059"/>
          </a:xfrm>
          <a:prstGeom prst="rect">
            <a:avLst/>
          </a:prstGeom>
          <a:noFill/>
          <a:ln/>
        </p:spPr>
        <p:txBody>
          <a:bodyPr wrap="none" lIns="0" tIns="0" rIns="0" bIns="0" rtlCol="0" anchor="t"/>
          <a:lstStyle/>
          <a:p>
            <a:pPr>
              <a:lnSpc>
                <a:spcPts val="2600"/>
              </a:lnSpc>
            </a:pPr>
            <a:r>
              <a:rPr lang="en-US" sz="3200" dirty="0">
                <a:solidFill>
                  <a:srgbClr val="2C3F42"/>
                </a:solidFill>
                <a:latin typeface="Bitter Medium" pitchFamily="34" charset="0"/>
                <a:ea typeface="Bitter Medium" pitchFamily="34" charset="-122"/>
                <a:cs typeface="Bitter Medium" pitchFamily="34" charset="-120"/>
              </a:rPr>
              <a:t>Model Context Protocol (Nov, 2024)</a:t>
            </a:r>
            <a:endParaRPr lang="en-US" sz="3200" dirty="0"/>
          </a:p>
        </p:txBody>
      </p:sp>
      <p:sp>
        <p:nvSpPr>
          <p:cNvPr id="5" name="Text 2">
            <a:extLst>
              <a:ext uri="{FF2B5EF4-FFF2-40B4-BE49-F238E27FC236}">
                <a16:creationId xmlns:a16="http://schemas.microsoft.com/office/drawing/2014/main" id="{F1ABC198-C541-BBF6-FCBD-620194637D1F}"/>
              </a:ext>
            </a:extLst>
          </p:cNvPr>
          <p:cNvSpPr/>
          <p:nvPr/>
        </p:nvSpPr>
        <p:spPr>
          <a:xfrm>
            <a:off x="8455490" y="2801213"/>
            <a:ext cx="5336710" cy="1034280"/>
          </a:xfrm>
          <a:prstGeom prst="rect">
            <a:avLst/>
          </a:prstGeom>
          <a:noFill/>
          <a:ln/>
        </p:spPr>
        <p:txBody>
          <a:bodyPr wrap="square" lIns="0" tIns="0" rIns="0" bIns="0" rtlCol="0" anchor="t"/>
          <a:lstStyle/>
          <a:p>
            <a:pPr lvl="1">
              <a:lnSpc>
                <a:spcPts val="2600"/>
              </a:lnSpc>
            </a:pPr>
            <a:r>
              <a:rPr lang="en-US" sz="2400" dirty="0">
                <a:solidFill>
                  <a:srgbClr val="2B2E3C"/>
                </a:solidFill>
                <a:latin typeface="Open Sans" pitchFamily="34" charset="0"/>
                <a:ea typeface="Open Sans" pitchFamily="34" charset="-122"/>
                <a:cs typeface="Open Sans" pitchFamily="34" charset="-120"/>
              </a:rPr>
              <a:t>Agent logic embedded in MCP server (local or cloud) and instructions to LLM</a:t>
            </a:r>
          </a:p>
          <a:p>
            <a:pPr lvl="1">
              <a:lnSpc>
                <a:spcPts val="2600"/>
              </a:lnSpc>
            </a:pPr>
            <a:endParaRPr lang="en-US" sz="2400" dirty="0">
              <a:solidFill>
                <a:srgbClr val="2B2E3C"/>
              </a:solidFill>
              <a:latin typeface="Open Sans" pitchFamily="34" charset="0"/>
              <a:ea typeface="Open Sans" pitchFamily="34" charset="-122"/>
              <a:cs typeface="Open Sans" pitchFamily="34" charset="-120"/>
            </a:endParaRPr>
          </a:p>
          <a:p>
            <a:pPr lvl="1">
              <a:lnSpc>
                <a:spcPts val="2600"/>
              </a:lnSpc>
            </a:pPr>
            <a:endParaRPr lang="en-US" sz="2000" dirty="0">
              <a:solidFill>
                <a:srgbClr val="2B2E3C"/>
              </a:solidFill>
              <a:latin typeface="Open Sans" pitchFamily="34" charset="0"/>
              <a:ea typeface="Open Sans" pitchFamily="34" charset="-122"/>
              <a:cs typeface="Open Sans" pitchFamily="34" charset="-120"/>
            </a:endParaRPr>
          </a:p>
          <a:p>
            <a:pPr lvl="1">
              <a:lnSpc>
                <a:spcPts val="2600"/>
              </a:lnSpc>
            </a:pPr>
            <a:r>
              <a:rPr lang="en-US" sz="2400" b="1" dirty="0">
                <a:solidFill>
                  <a:schemeClr val="accent2">
                    <a:lumMod val="75000"/>
                  </a:schemeClr>
                </a:solidFill>
                <a:latin typeface="Open Sans" pitchFamily="34" charset="0"/>
                <a:ea typeface="Open Sans" pitchFamily="34" charset="-122"/>
                <a:cs typeface="Open Sans" pitchFamily="34" charset="-120"/>
              </a:rPr>
              <a:t>User experience is </a:t>
            </a:r>
          </a:p>
          <a:p>
            <a:pPr lvl="1">
              <a:lnSpc>
                <a:spcPts val="2600"/>
              </a:lnSpc>
            </a:pPr>
            <a:r>
              <a:rPr lang="en-US" sz="2400" b="1" dirty="0">
                <a:solidFill>
                  <a:schemeClr val="accent2">
                    <a:lumMod val="75000"/>
                  </a:schemeClr>
                </a:solidFill>
                <a:latin typeface="Open Sans" pitchFamily="34" charset="0"/>
                <a:ea typeface="Open Sans" pitchFamily="34" charset="-122"/>
                <a:cs typeface="Open Sans" pitchFamily="34" charset="-120"/>
              </a:rPr>
              <a:t>simplified.  Use single chatbot for everything.</a:t>
            </a:r>
          </a:p>
          <a:p>
            <a:pPr lvl="1">
              <a:lnSpc>
                <a:spcPts val="2600"/>
              </a:lnSpc>
            </a:pPr>
            <a:endParaRPr lang="en-US" sz="2400" b="1" dirty="0">
              <a:solidFill>
                <a:schemeClr val="accent2">
                  <a:lumMod val="75000"/>
                </a:schemeClr>
              </a:solidFill>
              <a:latin typeface="Open Sans" pitchFamily="34" charset="0"/>
              <a:ea typeface="Open Sans" pitchFamily="34" charset="-122"/>
              <a:cs typeface="Open Sans" pitchFamily="34" charset="-120"/>
            </a:endParaRPr>
          </a:p>
          <a:p>
            <a:pPr lvl="1">
              <a:lnSpc>
                <a:spcPts val="2600"/>
              </a:lnSpc>
            </a:pPr>
            <a:endParaRPr lang="en-US" sz="2000" b="1" dirty="0">
              <a:solidFill>
                <a:schemeClr val="accent2">
                  <a:lumMod val="75000"/>
                </a:schemeClr>
              </a:solidFill>
              <a:latin typeface="Open Sans" pitchFamily="34" charset="0"/>
              <a:ea typeface="Open Sans" pitchFamily="34" charset="-122"/>
              <a:cs typeface="Open Sans" pitchFamily="34" charset="-120"/>
            </a:endParaRPr>
          </a:p>
          <a:p>
            <a:pPr lvl="1">
              <a:lnSpc>
                <a:spcPts val="2600"/>
              </a:lnSpc>
            </a:pPr>
            <a:r>
              <a:rPr lang="en-US" sz="2400" dirty="0">
                <a:latin typeface="Open Sans" pitchFamily="34" charset="0"/>
                <a:ea typeface="Open Sans" pitchFamily="34" charset="-122"/>
                <a:cs typeface="Open Sans" pitchFamily="34" charset="-120"/>
              </a:rPr>
              <a:t>Backbone of OpenAI’s Apps</a:t>
            </a:r>
            <a:endParaRPr lang="en-US" sz="2400" dirty="0"/>
          </a:p>
        </p:txBody>
      </p:sp>
      <p:pic>
        <p:nvPicPr>
          <p:cNvPr id="9" name="Picture 8" descr="A diagram of data warehouse&#10;&#10;AI-generated content may be incorrect.">
            <a:extLst>
              <a:ext uri="{FF2B5EF4-FFF2-40B4-BE49-F238E27FC236}">
                <a16:creationId xmlns:a16="http://schemas.microsoft.com/office/drawing/2014/main" id="{1818E147-5DC3-DA50-E094-726B5D17F3DF}"/>
              </a:ext>
            </a:extLst>
          </p:cNvPr>
          <p:cNvPicPr>
            <a:picLocks noChangeAspect="1"/>
          </p:cNvPicPr>
          <p:nvPr/>
        </p:nvPicPr>
        <p:blipFill>
          <a:blip r:embed="rId3"/>
          <a:stretch>
            <a:fillRect/>
          </a:stretch>
        </p:blipFill>
        <p:spPr>
          <a:xfrm>
            <a:off x="0" y="1087583"/>
            <a:ext cx="8623493" cy="6440330"/>
          </a:xfrm>
          <a:prstGeom prst="rect">
            <a:avLst/>
          </a:prstGeom>
        </p:spPr>
      </p:pic>
    </p:spTree>
    <p:extLst>
      <p:ext uri="{BB962C8B-B14F-4D97-AF65-F5344CB8AC3E}">
        <p14:creationId xmlns:p14="http://schemas.microsoft.com/office/powerpoint/2010/main" val="586811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094CC-070F-CD65-8DE4-E5191ECB341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22D4066-86C7-B27C-E828-D0DF1A925D08}"/>
              </a:ext>
            </a:extLst>
          </p:cNvPr>
          <p:cNvSpPr/>
          <p:nvPr/>
        </p:nvSpPr>
        <p:spPr>
          <a:xfrm>
            <a:off x="4932221" y="895281"/>
            <a:ext cx="5269235" cy="465059"/>
          </a:xfrm>
          <a:prstGeom prst="rect">
            <a:avLst/>
          </a:prstGeom>
          <a:noFill/>
          <a:ln/>
        </p:spPr>
        <p:txBody>
          <a:bodyPr wrap="none" lIns="0" tIns="0" rIns="0" bIns="0" rtlCol="0" anchor="t"/>
          <a:lstStyle/>
          <a:p>
            <a:pPr>
              <a:lnSpc>
                <a:spcPts val="2600"/>
              </a:lnSpc>
            </a:pPr>
            <a:r>
              <a:rPr lang="en-US" sz="3200" dirty="0">
                <a:solidFill>
                  <a:srgbClr val="2C3F42"/>
                </a:solidFill>
                <a:latin typeface="Bitter Medium" pitchFamily="34" charset="0"/>
                <a:ea typeface="Bitter Medium" pitchFamily="34" charset="-122"/>
                <a:cs typeface="Bitter Medium" pitchFamily="34" charset="-120"/>
              </a:rPr>
              <a:t>Claude Skills (10-16-2025)</a:t>
            </a:r>
            <a:endParaRPr lang="en-US" sz="3200" dirty="0"/>
          </a:p>
        </p:txBody>
      </p:sp>
      <p:sp>
        <p:nvSpPr>
          <p:cNvPr id="4" name="Text 1">
            <a:extLst>
              <a:ext uri="{FF2B5EF4-FFF2-40B4-BE49-F238E27FC236}">
                <a16:creationId xmlns:a16="http://schemas.microsoft.com/office/drawing/2014/main" id="{A54AC951-905E-4B55-3784-A016C7D2E49B}"/>
              </a:ext>
            </a:extLst>
          </p:cNvPr>
          <p:cNvSpPr/>
          <p:nvPr/>
        </p:nvSpPr>
        <p:spPr>
          <a:xfrm>
            <a:off x="8614816" y="2202830"/>
            <a:ext cx="4100780" cy="297716"/>
          </a:xfrm>
          <a:prstGeom prst="rect">
            <a:avLst/>
          </a:prstGeom>
          <a:noFill/>
          <a:ln/>
        </p:spPr>
        <p:txBody>
          <a:bodyPr wrap="non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User chats with Claude as with MCP</a:t>
            </a:r>
            <a:endParaRPr lang="en-US" sz="2400" dirty="0"/>
          </a:p>
        </p:txBody>
      </p:sp>
      <p:sp>
        <p:nvSpPr>
          <p:cNvPr id="5" name="Text 2">
            <a:extLst>
              <a:ext uri="{FF2B5EF4-FFF2-40B4-BE49-F238E27FC236}">
                <a16:creationId xmlns:a16="http://schemas.microsoft.com/office/drawing/2014/main" id="{360D5FDB-FF1F-8AE4-A89F-E5A700F6E8B2}"/>
              </a:ext>
            </a:extLst>
          </p:cNvPr>
          <p:cNvSpPr/>
          <p:nvPr/>
        </p:nvSpPr>
        <p:spPr>
          <a:xfrm>
            <a:off x="8143761" y="3302573"/>
            <a:ext cx="5925529" cy="1034280"/>
          </a:xfrm>
          <a:prstGeom prst="rect">
            <a:avLst/>
          </a:prstGeom>
          <a:noFill/>
          <a:ln/>
        </p:spPr>
        <p:txBody>
          <a:bodyPr wrap="square" lIns="0" tIns="0" rIns="0" bIns="0" rtlCol="0" anchor="t"/>
          <a:lstStyle/>
          <a:p>
            <a:pPr lvl="1">
              <a:lnSpc>
                <a:spcPts val="2600"/>
              </a:lnSpc>
            </a:pPr>
            <a:r>
              <a:rPr lang="en-US" sz="2400" dirty="0">
                <a:solidFill>
                  <a:srgbClr val="2B2E3C"/>
                </a:solidFill>
                <a:latin typeface="Open Sans" pitchFamily="34" charset="0"/>
                <a:ea typeface="Open Sans" pitchFamily="34" charset="-122"/>
                <a:cs typeface="Open Sans" pitchFamily="34" charset="-120"/>
              </a:rPr>
              <a:t>Agent logic embedded in </a:t>
            </a:r>
          </a:p>
          <a:p>
            <a:pPr lvl="1">
              <a:lnSpc>
                <a:spcPts val="2600"/>
              </a:lnSpc>
            </a:pPr>
            <a:r>
              <a:rPr lang="en-US" sz="2400" dirty="0">
                <a:solidFill>
                  <a:srgbClr val="2B2E3C"/>
                </a:solidFill>
                <a:latin typeface="Open Sans" pitchFamily="34" charset="0"/>
                <a:ea typeface="Open Sans" pitchFamily="34" charset="-122"/>
                <a:cs typeface="Open Sans" pitchFamily="34" charset="-120"/>
              </a:rPr>
              <a:t>Skill – instructions that Claude reads when needed + Python scripts it can execute</a:t>
            </a:r>
          </a:p>
          <a:p>
            <a:pPr lvl="1">
              <a:lnSpc>
                <a:spcPts val="2600"/>
              </a:lnSpc>
            </a:pPr>
            <a:endParaRPr lang="en-US" sz="2400" dirty="0">
              <a:solidFill>
                <a:srgbClr val="2B2E3C"/>
              </a:solidFill>
              <a:latin typeface="Open Sans" pitchFamily="34" charset="0"/>
              <a:ea typeface="Open Sans" pitchFamily="34" charset="-122"/>
              <a:cs typeface="Open Sans" pitchFamily="34" charset="-120"/>
            </a:endParaRPr>
          </a:p>
          <a:p>
            <a:pPr lvl="1">
              <a:lnSpc>
                <a:spcPts val="2600"/>
              </a:lnSpc>
            </a:pPr>
            <a:endParaRPr lang="en-US" sz="2400" dirty="0">
              <a:solidFill>
                <a:srgbClr val="2B2E3C"/>
              </a:solidFill>
              <a:latin typeface="Open Sans" pitchFamily="34" charset="0"/>
              <a:ea typeface="Open Sans" pitchFamily="34" charset="-122"/>
              <a:cs typeface="Open Sans" pitchFamily="34" charset="-120"/>
            </a:endParaRPr>
          </a:p>
          <a:p>
            <a:pPr lvl="1">
              <a:lnSpc>
                <a:spcPts val="2600"/>
              </a:lnSpc>
            </a:pPr>
            <a:r>
              <a:rPr lang="en-US" sz="2400" b="1" dirty="0">
                <a:solidFill>
                  <a:schemeClr val="accent2">
                    <a:lumMod val="75000"/>
                  </a:schemeClr>
                </a:solidFill>
                <a:latin typeface="Open Sans" pitchFamily="34" charset="0"/>
                <a:ea typeface="Open Sans" pitchFamily="34" charset="-122"/>
                <a:cs typeface="Open Sans" pitchFamily="34" charset="-120"/>
              </a:rPr>
              <a:t>Developer experience is simplified</a:t>
            </a:r>
          </a:p>
          <a:p>
            <a:pPr lvl="1">
              <a:lnSpc>
                <a:spcPts val="2600"/>
              </a:lnSpc>
            </a:pPr>
            <a:endParaRPr lang="en-US" sz="2400" dirty="0">
              <a:solidFill>
                <a:srgbClr val="2B2E3C"/>
              </a:solidFill>
              <a:latin typeface="Open Sans" pitchFamily="34" charset="0"/>
              <a:ea typeface="Open Sans" pitchFamily="34" charset="-122"/>
              <a:cs typeface="Open Sans" pitchFamily="34" charset="-120"/>
            </a:endParaRPr>
          </a:p>
          <a:p>
            <a:pPr lvl="1">
              <a:lnSpc>
                <a:spcPts val="2600"/>
              </a:lnSpc>
            </a:pPr>
            <a:endParaRPr lang="en-US" sz="2400" dirty="0">
              <a:solidFill>
                <a:srgbClr val="2B2E3C"/>
              </a:solidFill>
              <a:latin typeface="Open Sans" pitchFamily="34" charset="0"/>
              <a:ea typeface="Open Sans" pitchFamily="34" charset="-122"/>
              <a:cs typeface="Open Sans" pitchFamily="34" charset="-120"/>
            </a:endParaRPr>
          </a:p>
          <a:p>
            <a:pPr lvl="1">
              <a:lnSpc>
                <a:spcPts val="2600"/>
              </a:lnSpc>
            </a:pPr>
            <a:r>
              <a:rPr lang="en-US" sz="2400" dirty="0">
                <a:solidFill>
                  <a:srgbClr val="2B2E3C"/>
                </a:solidFill>
                <a:latin typeface="Open Sans" pitchFamily="34" charset="0"/>
                <a:ea typeface="Open Sans" pitchFamily="34" charset="-122"/>
                <a:cs typeface="Open Sans" pitchFamily="34" charset="-120"/>
              </a:rPr>
              <a:t>Claude has a Skill for</a:t>
            </a:r>
          </a:p>
          <a:p>
            <a:pPr lvl="1">
              <a:lnSpc>
                <a:spcPts val="2600"/>
              </a:lnSpc>
            </a:pPr>
            <a:r>
              <a:rPr lang="en-US" sz="2400" dirty="0">
                <a:solidFill>
                  <a:srgbClr val="2B2E3C"/>
                </a:solidFill>
                <a:latin typeface="Open Sans" pitchFamily="34" charset="0"/>
                <a:ea typeface="Open Sans" pitchFamily="34" charset="-122"/>
                <a:cs typeface="Open Sans" pitchFamily="34" charset="-120"/>
              </a:rPr>
              <a:t>creating Skills!</a:t>
            </a:r>
            <a:endParaRPr lang="en-US" sz="2400" dirty="0"/>
          </a:p>
        </p:txBody>
      </p:sp>
      <p:pic>
        <p:nvPicPr>
          <p:cNvPr id="7" name="Picture 6" descr="A diagram of a data warehouse&#10;&#10;AI-generated content may be incorrect.">
            <a:extLst>
              <a:ext uri="{FF2B5EF4-FFF2-40B4-BE49-F238E27FC236}">
                <a16:creationId xmlns:a16="http://schemas.microsoft.com/office/drawing/2014/main" id="{EA5A3311-84DF-C5FC-6630-7A714026D01C}"/>
              </a:ext>
            </a:extLst>
          </p:cNvPr>
          <p:cNvPicPr>
            <a:picLocks noChangeAspect="1"/>
          </p:cNvPicPr>
          <p:nvPr/>
        </p:nvPicPr>
        <p:blipFill>
          <a:blip r:embed="rId3"/>
          <a:stretch>
            <a:fillRect/>
          </a:stretch>
        </p:blipFill>
        <p:spPr>
          <a:xfrm>
            <a:off x="300181" y="895281"/>
            <a:ext cx="8116455" cy="6052949"/>
          </a:xfrm>
          <a:prstGeom prst="rect">
            <a:avLst/>
          </a:prstGeom>
        </p:spPr>
      </p:pic>
    </p:spTree>
    <p:extLst>
      <p:ext uri="{BB962C8B-B14F-4D97-AF65-F5344CB8AC3E}">
        <p14:creationId xmlns:p14="http://schemas.microsoft.com/office/powerpoint/2010/main" val="524383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754182" y="1101436"/>
            <a:ext cx="5356830" cy="465059"/>
          </a:xfrm>
          <a:prstGeom prst="rect">
            <a:avLst/>
          </a:prstGeom>
          <a:noFill/>
          <a:ln/>
        </p:spPr>
        <p:txBody>
          <a:bodyPr wrap="none" lIns="0" tIns="0" rIns="0" bIns="0" rtlCol="0" anchor="t"/>
          <a:lstStyle/>
          <a:p>
            <a:pPr>
              <a:lnSpc>
                <a:spcPts val="2600"/>
              </a:lnSpc>
            </a:pPr>
            <a:r>
              <a:rPr lang="en-US" sz="3600" dirty="0">
                <a:solidFill>
                  <a:srgbClr val="2C3F42"/>
                </a:solidFill>
                <a:latin typeface="Bitter Medium" pitchFamily="34" charset="0"/>
                <a:ea typeface="Bitter Medium" pitchFamily="34" charset="-122"/>
                <a:cs typeface="Bitter Medium" pitchFamily="34" charset="-120"/>
              </a:rPr>
              <a:t>Vibe Coded Claude Skill</a:t>
            </a:r>
            <a:endParaRPr lang="en-US" sz="3600" dirty="0"/>
          </a:p>
        </p:txBody>
      </p:sp>
      <p:sp>
        <p:nvSpPr>
          <p:cNvPr id="4" name="Text 1"/>
          <p:cNvSpPr/>
          <p:nvPr/>
        </p:nvSpPr>
        <p:spPr>
          <a:xfrm>
            <a:off x="6816528" y="2772131"/>
            <a:ext cx="6975672" cy="893147"/>
          </a:xfrm>
          <a:prstGeom prst="rect">
            <a:avLst/>
          </a:prstGeom>
          <a:noFill/>
          <a:ln/>
        </p:spPr>
        <p:txBody>
          <a:bodyPr wrap="square" lIns="0" tIns="0" rIns="0" bIns="0" rtlCol="0" anchor="t"/>
          <a:lstStyle/>
          <a:p>
            <a:pPr>
              <a:lnSpc>
                <a:spcPts val="2600"/>
              </a:lnSpc>
            </a:pPr>
            <a:r>
              <a:rPr lang="en-US" sz="2400" dirty="0">
                <a:solidFill>
                  <a:srgbClr val="2B2E3C"/>
                </a:solidFill>
                <a:latin typeface="Open Sans" pitchFamily="34" charset="0"/>
                <a:ea typeface="Open Sans" pitchFamily="34" charset="-122"/>
                <a:cs typeface="Open Sans" pitchFamily="34" charset="-120"/>
              </a:rPr>
              <a:t>I created a skill for the Rice stock database for MGMT 638: Quantitative Equity Investing</a:t>
            </a:r>
            <a:endParaRPr lang="en-US" sz="2400" dirty="0"/>
          </a:p>
        </p:txBody>
      </p:sp>
      <p:sp>
        <p:nvSpPr>
          <p:cNvPr id="5" name="Shape 2"/>
          <p:cNvSpPr/>
          <p:nvPr/>
        </p:nvSpPr>
        <p:spPr>
          <a:xfrm>
            <a:off x="6816528" y="4454235"/>
            <a:ext cx="6760928" cy="2060838"/>
          </a:xfrm>
          <a:prstGeom prst="roundRect">
            <a:avLst>
              <a:gd name="adj" fmla="val 2523"/>
            </a:avLst>
          </a:prstGeom>
          <a:solidFill>
            <a:srgbClr val="FAD3B8"/>
          </a:solidFill>
          <a:ln/>
        </p:spPr>
        <p:txBody>
          <a:bodyPr/>
          <a:lstStyle/>
          <a:p>
            <a:pPr>
              <a:lnSpc>
                <a:spcPts val="2600"/>
              </a:lnSpc>
            </a:pPr>
            <a:endParaRPr lang="en-US" sz="1350"/>
          </a:p>
        </p:txBody>
      </p:sp>
      <p:sp>
        <p:nvSpPr>
          <p:cNvPr id="7" name="Text 3"/>
          <p:cNvSpPr/>
          <p:nvPr/>
        </p:nvSpPr>
        <p:spPr>
          <a:xfrm>
            <a:off x="7044997" y="4926255"/>
            <a:ext cx="6428548" cy="2928257"/>
          </a:xfrm>
          <a:prstGeom prst="rect">
            <a:avLst/>
          </a:prstGeom>
          <a:noFill/>
          <a:ln/>
        </p:spPr>
        <p:txBody>
          <a:bodyPr wrap="square" lIns="0" tIns="0" rIns="0" bIns="0" rtlCol="0" anchor="t"/>
          <a:lstStyle/>
          <a:p>
            <a:pPr>
              <a:lnSpc>
                <a:spcPts val="2600"/>
              </a:lnSpc>
            </a:pPr>
            <a:r>
              <a:rPr lang="en-US" sz="2400" b="1" dirty="0">
                <a:solidFill>
                  <a:srgbClr val="000000"/>
                </a:solidFill>
                <a:latin typeface="Open Sans" pitchFamily="34" charset="0"/>
                <a:ea typeface="Open Sans" pitchFamily="34" charset="-122"/>
                <a:cs typeface="Open Sans" pitchFamily="34" charset="-120"/>
              </a:rPr>
              <a:t>Claude Prompt:</a:t>
            </a:r>
            <a:r>
              <a:rPr lang="en-US" sz="2400" dirty="0">
                <a:solidFill>
                  <a:srgbClr val="000000"/>
                </a:solidFill>
                <a:latin typeface="Open Sans" pitchFamily="34" charset="0"/>
                <a:ea typeface="Open Sans" pitchFamily="34" charset="-122"/>
                <a:cs typeface="Open Sans" pitchFamily="34" charset="-120"/>
              </a:rPr>
              <a:t> Using the Rice database, get monthly returns, momentum, pb, and roe from 10Ks for all stocks since Jan 1, 2020.</a:t>
            </a:r>
          </a:p>
          <a:p>
            <a:pPr>
              <a:lnSpc>
                <a:spcPts val="2600"/>
              </a:lnSpc>
            </a:pPr>
            <a:endParaRPr lang="en-US" sz="2000" dirty="0">
              <a:solidFill>
                <a:srgbClr val="000000"/>
              </a:solidFill>
              <a:latin typeface="Open Sans" pitchFamily="34" charset="0"/>
              <a:ea typeface="Open Sans" pitchFamily="34" charset="-122"/>
              <a:cs typeface="Open Sans" pitchFamily="34" charset="-120"/>
            </a:endParaRPr>
          </a:p>
        </p:txBody>
      </p:sp>
      <p:pic>
        <p:nvPicPr>
          <p:cNvPr id="1026" name="Picture 2" descr="A clean, minimalist vector illustration representing data and information flow. Show abstract data visualizations like flowing streams of data points, geometric charts, database symbols, and interconnected nodes. Use warm earthy colors like orange (#D2600F), beige (#FBE2D1), and sage green (#C3CDC1) to match the presentation theme. The style should be modern, professional, and retro-inspired with clean lines and organic shapes.">
            <a:extLst>
              <a:ext uri="{FF2B5EF4-FFF2-40B4-BE49-F238E27FC236}">
                <a16:creationId xmlns:a16="http://schemas.microsoft.com/office/drawing/2014/main" id="{CADE1DCC-7DA4-5B69-F27C-1A5D8C151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69" y="1101436"/>
            <a:ext cx="5860355" cy="5860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16456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13306</TotalTime>
  <Words>505</Words>
  <Application>Microsoft Office PowerPoint</Application>
  <PresentationFormat>Custom</PresentationFormat>
  <Paragraphs>54</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 Light</vt:lpstr>
      <vt:lpstr>Bitter Medium</vt:lpstr>
      <vt:lpstr>Open Sans</vt:lpstr>
      <vt:lpstr>Calibri</vt:lpstr>
      <vt:lpstr>Arial</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Kerry Back</dc:creator>
  <cp:lastModifiedBy>Kerry Back</cp:lastModifiedBy>
  <cp:revision>70</cp:revision>
  <dcterms:created xsi:type="dcterms:W3CDTF">2025-10-07T03:46:26Z</dcterms:created>
  <dcterms:modified xsi:type="dcterms:W3CDTF">2025-12-01T22:29:10Z</dcterms:modified>
</cp:coreProperties>
</file>